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9" r:id="rId4"/>
    <p:sldId id="271" r:id="rId5"/>
    <p:sldId id="288" r:id="rId6"/>
    <p:sldId id="266" r:id="rId7"/>
    <p:sldId id="267" r:id="rId8"/>
    <p:sldId id="276" r:id="rId9"/>
    <p:sldId id="275" r:id="rId10"/>
    <p:sldId id="273" r:id="rId11"/>
    <p:sldId id="278" r:id="rId12"/>
    <p:sldId id="277" r:id="rId13"/>
    <p:sldId id="279" r:id="rId14"/>
    <p:sldId id="281" r:id="rId15"/>
    <p:sldId id="280" r:id="rId16"/>
    <p:sldId id="282" r:id="rId17"/>
    <p:sldId id="284" r:id="rId18"/>
    <p:sldId id="285" r:id="rId19"/>
    <p:sldId id="286" r:id="rId20"/>
    <p:sldId id="28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CF3E"/>
    <a:srgbClr val="A1D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37"/>
    <p:restoredTop sz="94640"/>
  </p:normalViewPr>
  <p:slideViewPr>
    <p:cSldViewPr snapToGrid="0">
      <p:cViewPr>
        <p:scale>
          <a:sx n="85" d="100"/>
          <a:sy n="85" d="100"/>
        </p:scale>
        <p:origin x="832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4/2/26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4/2/26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4/2/26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4/2/26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4/2/26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4/2/26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4/2/26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4/2/26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4/2/26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4/2/26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4/2/26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4/2/26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4/2/26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4/2/26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4/2/26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4/2/26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4/2/26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3CFD3-2DDE-AC65-DB4D-DE6D8B7736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85958"/>
            <a:ext cx="8825658" cy="2677648"/>
          </a:xfrm>
        </p:spPr>
        <p:txBody>
          <a:bodyPr/>
          <a:lstStyle/>
          <a:p>
            <a:r>
              <a:rPr lang="en-US" dirty="0"/>
              <a:t>Tutor Assignment Optimization Framework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C520B9-484D-C7EA-D6BC-6FC67A361C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1432920"/>
          </a:xfrm>
        </p:spPr>
        <p:txBody>
          <a:bodyPr>
            <a:normAutofit/>
          </a:bodyPr>
          <a:lstStyle/>
          <a:p>
            <a:r>
              <a:rPr lang="en-US" dirty="0"/>
              <a:t>HTX </a:t>
            </a:r>
            <a:r>
              <a:rPr lang="en-US" dirty="0" err="1"/>
              <a:t>xData</a:t>
            </a:r>
            <a:r>
              <a:rPr lang="en-US" dirty="0"/>
              <a:t> technical assessment</a:t>
            </a:r>
          </a:p>
          <a:p>
            <a:r>
              <a:rPr lang="en-US" dirty="0"/>
              <a:t>Vijayakumar Sabarina</a:t>
            </a:r>
          </a:p>
          <a:p>
            <a:r>
              <a:rPr lang="en-US" dirty="0"/>
              <a:t>2 March 2026</a:t>
            </a:r>
          </a:p>
        </p:txBody>
      </p:sp>
    </p:spTree>
    <p:extLst>
      <p:ext uri="{BB962C8B-B14F-4D97-AF65-F5344CB8AC3E}">
        <p14:creationId xmlns:p14="http://schemas.microsoft.com/office/powerpoint/2010/main" val="2507595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10953-C770-9DD5-B086-B9277E539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B16DC-2A56-F8DB-80C9-D6894D0283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955" y="751352"/>
            <a:ext cx="8825658" cy="1096498"/>
          </a:xfrm>
        </p:spPr>
        <p:txBody>
          <a:bodyPr/>
          <a:lstStyle/>
          <a:p>
            <a:r>
              <a:rPr lang="en-US" sz="4800" dirty="0"/>
              <a:t>Contents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2829EB-FC6E-375E-2D1E-C70470C2D2FA}"/>
              </a:ext>
            </a:extLst>
          </p:cNvPr>
          <p:cNvSpPr txBox="1"/>
          <p:nvPr/>
        </p:nvSpPr>
        <p:spPr>
          <a:xfrm>
            <a:off x="1295400" y="2071519"/>
            <a:ext cx="9601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Problem Statement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Data Preprocessing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Optimization Approach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Model Formulation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Objective Function (a)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Objective Function (b)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Results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Combining Objectives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420365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6C681-FCEC-3395-C065-DFBBCFC46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C4DFE-1973-6705-6390-8814AFD08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955" y="751352"/>
            <a:ext cx="8825658" cy="1096498"/>
          </a:xfrm>
        </p:spPr>
        <p:txBody>
          <a:bodyPr/>
          <a:lstStyle/>
          <a:p>
            <a:r>
              <a:rPr lang="en-US" sz="4800" dirty="0"/>
              <a:t>1. Problem Statement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A33A52-3ED4-4549-E648-87F6174CCD27}"/>
              </a:ext>
            </a:extLst>
          </p:cNvPr>
          <p:cNvSpPr txBox="1"/>
          <p:nvPr/>
        </p:nvSpPr>
        <p:spPr>
          <a:xfrm>
            <a:off x="1339978" y="3602173"/>
            <a:ext cx="7693612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Considerations: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1 student </a:t>
            </a:r>
            <a:r>
              <a:rPr lang="en-US" sz="2000" dirty="0">
                <a:solidFill>
                  <a:schemeClr val="bg1"/>
                </a:solidFill>
                <a:sym typeface="Wingdings" pitchFamily="2" charset="2"/>
              </a:rPr>
              <a:t> 1 tutor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Skill compatibility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Capacity limits of tutors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Tutors’ </a:t>
            </a:r>
            <a:r>
              <a:rPr lang="en-US" sz="2000" dirty="0" err="1">
                <a:solidFill>
                  <a:schemeClr val="bg1"/>
                </a:solidFill>
              </a:rPr>
              <a:t>centre</a:t>
            </a:r>
            <a:r>
              <a:rPr lang="en-US" sz="2000" dirty="0">
                <a:solidFill>
                  <a:schemeClr val="bg1"/>
                </a:solidFill>
              </a:rPr>
              <a:t> preferences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77BC20-5A7E-1913-80A8-ABB373F82DC3}"/>
              </a:ext>
            </a:extLst>
          </p:cNvPr>
          <p:cNvSpPr txBox="1"/>
          <p:nvPr/>
        </p:nvSpPr>
        <p:spPr>
          <a:xfrm>
            <a:off x="1295400" y="2309513"/>
            <a:ext cx="9601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Objective: Develop a flexible optimization model to support allocation of students to tutors under varying business priorities</a:t>
            </a:r>
          </a:p>
        </p:txBody>
      </p:sp>
    </p:spTree>
    <p:extLst>
      <p:ext uri="{BB962C8B-B14F-4D97-AF65-F5344CB8AC3E}">
        <p14:creationId xmlns:p14="http://schemas.microsoft.com/office/powerpoint/2010/main" val="2638828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F3DB4-11C1-FA65-AFEC-7FEF9AD7E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D3BBD-FC93-83E4-C275-DBB91AB000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955" y="751352"/>
            <a:ext cx="8825658" cy="1096498"/>
          </a:xfrm>
        </p:spPr>
        <p:txBody>
          <a:bodyPr/>
          <a:lstStyle/>
          <a:p>
            <a:r>
              <a:rPr lang="en-US" sz="4800" dirty="0"/>
              <a:t>2. Data Preprocessing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61363D-7B8E-EBFD-1442-6C620A95DD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586" t="41637" r="46401" b="36549"/>
          <a:stretch>
            <a:fillRect/>
          </a:stretch>
        </p:blipFill>
        <p:spPr>
          <a:xfrm>
            <a:off x="1866378" y="2558572"/>
            <a:ext cx="2948285" cy="17408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7F5404D-B457-8C23-C533-A7F3639E58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748" t="57748" r="38181" b="20548"/>
          <a:stretch>
            <a:fillRect/>
          </a:stretch>
        </p:blipFill>
        <p:spPr>
          <a:xfrm>
            <a:off x="6225437" y="2558573"/>
            <a:ext cx="3957502" cy="17408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3D5DDF7-48BD-D09C-4BA8-774EBC5E24BE}"/>
              </a:ext>
            </a:extLst>
          </p:cNvPr>
          <p:cNvSpPr txBox="1"/>
          <p:nvPr/>
        </p:nvSpPr>
        <p:spPr>
          <a:xfrm>
            <a:off x="1866378" y="4363819"/>
            <a:ext cx="255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New students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C52F66-3FDD-A7CE-4BAA-997CE49084F5}"/>
              </a:ext>
            </a:extLst>
          </p:cNvPr>
          <p:cNvSpPr txBox="1"/>
          <p:nvPr/>
        </p:nvSpPr>
        <p:spPr>
          <a:xfrm>
            <a:off x="6225437" y="4363819"/>
            <a:ext cx="255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Existing students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7160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439DE-405C-7162-A34C-D911C5125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B1B68-017E-9F7A-6CE5-27CAF10EE0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955" y="751352"/>
            <a:ext cx="8825658" cy="1096498"/>
          </a:xfrm>
        </p:spPr>
        <p:txBody>
          <a:bodyPr/>
          <a:lstStyle/>
          <a:p>
            <a:r>
              <a:rPr lang="en-US" sz="4800" dirty="0"/>
              <a:t>2. Data Preprocessing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C18B03-1C70-56F9-F1CB-CD0FF57365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25" t="42376" r="25289" b="35920"/>
          <a:stretch>
            <a:fillRect/>
          </a:stretch>
        </p:blipFill>
        <p:spPr>
          <a:xfrm>
            <a:off x="3783973" y="1988506"/>
            <a:ext cx="4624054" cy="1440494"/>
          </a:xfrm>
          <a:prstGeom prst="rect">
            <a:avLst/>
          </a:prstGeom>
        </p:spPr>
      </p:pic>
      <p:sp>
        <p:nvSpPr>
          <p:cNvPr id="6" name="Down Arrow 5">
            <a:extLst>
              <a:ext uri="{FF2B5EF4-FFF2-40B4-BE49-F238E27FC236}">
                <a16:creationId xmlns:a16="http://schemas.microsoft.com/office/drawing/2014/main" id="{7AC8CFD2-0580-9D8D-6551-E774E98831F7}"/>
              </a:ext>
            </a:extLst>
          </p:cNvPr>
          <p:cNvSpPr/>
          <p:nvPr/>
        </p:nvSpPr>
        <p:spPr>
          <a:xfrm>
            <a:off x="5974915" y="3544866"/>
            <a:ext cx="263047" cy="92692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736C04-76D3-7F97-1C10-2B7883F19D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586" t="36921" r="5987" b="41375"/>
          <a:stretch>
            <a:fillRect/>
          </a:stretch>
        </p:blipFill>
        <p:spPr>
          <a:xfrm>
            <a:off x="2627482" y="4587658"/>
            <a:ext cx="6937035" cy="15189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E778290-4B76-50EC-0A6A-ECDF47D893DC}"/>
              </a:ext>
            </a:extLst>
          </p:cNvPr>
          <p:cNvSpPr/>
          <p:nvPr/>
        </p:nvSpPr>
        <p:spPr>
          <a:xfrm>
            <a:off x="7452986" y="4471792"/>
            <a:ext cx="2146627" cy="17786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87A0A0-66A6-058E-61D4-9EE721EF0C7F}"/>
              </a:ext>
            </a:extLst>
          </p:cNvPr>
          <p:cNvSpPr txBox="1"/>
          <p:nvPr/>
        </p:nvSpPr>
        <p:spPr>
          <a:xfrm>
            <a:off x="2592386" y="4120652"/>
            <a:ext cx="255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Tutors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5782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32DA5-38C3-FE2B-2957-55AD4F145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54ABA-993A-D4F6-B07B-62520B14D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955" y="751352"/>
            <a:ext cx="8825658" cy="1096498"/>
          </a:xfrm>
        </p:spPr>
        <p:txBody>
          <a:bodyPr/>
          <a:lstStyle/>
          <a:p>
            <a:r>
              <a:rPr lang="en-US" sz="4800" dirty="0"/>
              <a:t>3. Optimization Approach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1A2C1E-B1DE-FC29-A26D-E224F3FCCBB1}"/>
              </a:ext>
            </a:extLst>
          </p:cNvPr>
          <p:cNvSpPr txBox="1"/>
          <p:nvPr/>
        </p:nvSpPr>
        <p:spPr>
          <a:xfrm>
            <a:off x="1339978" y="2219421"/>
            <a:ext cx="7693612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Mixed-Integer Programming (MIP) implemented using Python + </a:t>
            </a:r>
            <a:r>
              <a:rPr lang="en-US" sz="2000" dirty="0" err="1">
                <a:solidFill>
                  <a:schemeClr val="bg1"/>
                </a:solidFill>
              </a:rPr>
              <a:t>DOcplex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Binary decision variables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Hard constraints + considerations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Weighted objective functions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8251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113AE-8FBA-DE5F-9766-B4BFE556F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rved Left Arrow 17">
            <a:extLst>
              <a:ext uri="{FF2B5EF4-FFF2-40B4-BE49-F238E27FC236}">
                <a16:creationId xmlns:a16="http://schemas.microsoft.com/office/drawing/2014/main" id="{5755051C-A929-5366-4B7A-07A167FC01A2}"/>
              </a:ext>
            </a:extLst>
          </p:cNvPr>
          <p:cNvSpPr/>
          <p:nvPr/>
        </p:nvSpPr>
        <p:spPr>
          <a:xfrm rot="16859762">
            <a:off x="9292726" y="3035161"/>
            <a:ext cx="613775" cy="1287948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Curved Left Arrow 14">
            <a:extLst>
              <a:ext uri="{FF2B5EF4-FFF2-40B4-BE49-F238E27FC236}">
                <a16:creationId xmlns:a16="http://schemas.microsoft.com/office/drawing/2014/main" id="{5C7BAD21-2EF6-46E2-8399-E71C4C7F6FBA}"/>
              </a:ext>
            </a:extLst>
          </p:cNvPr>
          <p:cNvSpPr>
            <a:spLocks/>
          </p:cNvSpPr>
          <p:nvPr/>
        </p:nvSpPr>
        <p:spPr>
          <a:xfrm rot="876808">
            <a:off x="7187875" y="3893127"/>
            <a:ext cx="613775" cy="1287948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urved Left Arrow 12">
            <a:extLst>
              <a:ext uri="{FF2B5EF4-FFF2-40B4-BE49-F238E27FC236}">
                <a16:creationId xmlns:a16="http://schemas.microsoft.com/office/drawing/2014/main" id="{5AD841F6-29E1-3F11-4E98-1662F485820E}"/>
              </a:ext>
            </a:extLst>
          </p:cNvPr>
          <p:cNvSpPr/>
          <p:nvPr/>
        </p:nvSpPr>
        <p:spPr>
          <a:xfrm rot="11801432">
            <a:off x="4779688" y="2556158"/>
            <a:ext cx="613775" cy="1287948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Curved Up Arrow 7">
            <a:extLst>
              <a:ext uri="{FF2B5EF4-FFF2-40B4-BE49-F238E27FC236}">
                <a16:creationId xmlns:a16="http://schemas.microsoft.com/office/drawing/2014/main" id="{684EB215-2F97-E4B9-2433-6D03B6F8E601}"/>
              </a:ext>
            </a:extLst>
          </p:cNvPr>
          <p:cNvSpPr/>
          <p:nvPr/>
        </p:nvSpPr>
        <p:spPr>
          <a:xfrm rot="8963084">
            <a:off x="1803748" y="3654687"/>
            <a:ext cx="1553228" cy="58649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25EAD6-4A14-F8FC-87BB-43E3FD27EE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955" y="751352"/>
            <a:ext cx="8825658" cy="1096498"/>
          </a:xfrm>
        </p:spPr>
        <p:txBody>
          <a:bodyPr/>
          <a:lstStyle/>
          <a:p>
            <a:r>
              <a:rPr lang="en-US" sz="4800" dirty="0"/>
              <a:t>3. Optimization Approach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8DFDB1-53F8-29FF-78E4-50118FDC1FAE}"/>
              </a:ext>
            </a:extLst>
          </p:cNvPr>
          <p:cNvSpPr txBox="1"/>
          <p:nvPr/>
        </p:nvSpPr>
        <p:spPr>
          <a:xfrm>
            <a:off x="1295400" y="3629417"/>
            <a:ext cx="9601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Constraints </a:t>
            </a:r>
            <a:r>
              <a:rPr lang="en-US" sz="2400" b="1" dirty="0">
                <a:solidFill>
                  <a:schemeClr val="bg1"/>
                </a:solidFill>
                <a:sym typeface="Wingdings" pitchFamily="2" charset="2"/>
              </a:rPr>
              <a:t> Objective  Solver  Results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478DFB-BA65-105B-81BE-DAF27D640B26}"/>
              </a:ext>
            </a:extLst>
          </p:cNvPr>
          <p:cNvSpPr txBox="1"/>
          <p:nvPr/>
        </p:nvSpPr>
        <p:spPr>
          <a:xfrm>
            <a:off x="773956" y="4595809"/>
            <a:ext cx="2532915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bg1"/>
                </a:solidFill>
              </a:rPr>
              <a:t>1 student </a:t>
            </a:r>
            <a:r>
              <a:rPr lang="en-US" sz="1400" dirty="0">
                <a:solidFill>
                  <a:schemeClr val="bg1"/>
                </a:solidFill>
                <a:sym typeface="Wingdings" pitchFamily="2" charset="2"/>
              </a:rPr>
              <a:t></a:t>
            </a:r>
            <a:r>
              <a:rPr lang="en-US" sz="1400" dirty="0">
                <a:solidFill>
                  <a:schemeClr val="bg1"/>
                </a:solidFill>
              </a:rPr>
              <a:t> 1 tutor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bg1"/>
                </a:solidFill>
              </a:rPr>
              <a:t>Cannot exceed tutor’s max capacity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bg1"/>
                </a:solidFill>
              </a:rPr>
              <a:t>Students requiring extensive teaching </a:t>
            </a:r>
            <a:r>
              <a:rPr lang="en-US" sz="1400" dirty="0">
                <a:solidFill>
                  <a:schemeClr val="bg1"/>
                </a:solidFill>
                <a:sym typeface="Wingdings" pitchFamily="2" charset="2"/>
              </a:rPr>
              <a:t> tutor with extensive skill</a:t>
            </a: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333C66-D19C-6029-66BD-09A88B5F352E}"/>
              </a:ext>
            </a:extLst>
          </p:cNvPr>
          <p:cNvSpPr txBox="1"/>
          <p:nvPr/>
        </p:nvSpPr>
        <p:spPr>
          <a:xfrm>
            <a:off x="5565485" y="2177211"/>
            <a:ext cx="293968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bg1"/>
                </a:solidFill>
              </a:rPr>
              <a:t>Minimize tutors used (scenario (a))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bg1"/>
                </a:solidFill>
              </a:rPr>
              <a:t>Balance workload/ minimize spread (scenario (b))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bg1"/>
                </a:solidFill>
              </a:rPr>
              <a:t>Maximize tutors’ </a:t>
            </a:r>
            <a:r>
              <a:rPr lang="en-US" sz="1400" dirty="0" err="1">
                <a:solidFill>
                  <a:schemeClr val="bg1"/>
                </a:solidFill>
              </a:rPr>
              <a:t>centre</a:t>
            </a:r>
            <a:r>
              <a:rPr lang="en-US" sz="1400" dirty="0">
                <a:solidFill>
                  <a:schemeClr val="bg1"/>
                </a:solidFill>
              </a:rPr>
              <a:t> preference score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B8B810-6AFB-8EBE-4553-0CDD1CC7CED9}"/>
              </a:ext>
            </a:extLst>
          </p:cNvPr>
          <p:cNvSpPr txBox="1"/>
          <p:nvPr/>
        </p:nvSpPr>
        <p:spPr>
          <a:xfrm>
            <a:off x="4404762" y="4731606"/>
            <a:ext cx="2939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Implemented using </a:t>
            </a:r>
            <a:r>
              <a:rPr lang="en-US" sz="1400" dirty="0" err="1">
                <a:solidFill>
                  <a:schemeClr val="bg1"/>
                </a:solidFill>
              </a:rPr>
              <a:t>DOcplex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56666A-79AF-5FDE-5F15-CB2E336D0E73}"/>
              </a:ext>
            </a:extLst>
          </p:cNvPr>
          <p:cNvSpPr txBox="1"/>
          <p:nvPr/>
        </p:nvSpPr>
        <p:spPr>
          <a:xfrm>
            <a:off x="8651774" y="4192996"/>
            <a:ext cx="276627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bg1"/>
                </a:solidFill>
              </a:rPr>
              <a:t>No. of tutors used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bg1"/>
                </a:solidFill>
              </a:rPr>
              <a:t>Workload range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bg1"/>
                </a:solidFill>
              </a:rPr>
              <a:t>Workload spread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bg1"/>
                </a:solidFill>
              </a:rPr>
              <a:t>Preference satisfaction rate</a:t>
            </a:r>
          </a:p>
        </p:txBody>
      </p:sp>
    </p:spTree>
    <p:extLst>
      <p:ext uri="{BB962C8B-B14F-4D97-AF65-F5344CB8AC3E}">
        <p14:creationId xmlns:p14="http://schemas.microsoft.com/office/powerpoint/2010/main" val="2447596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5" grpId="0" animBg="1"/>
      <p:bldP spid="13" grpId="0" animBg="1"/>
      <p:bldP spid="8" grpId="0" animBg="1"/>
      <p:bldP spid="10" grpId="0"/>
      <p:bldP spid="14" grpId="0"/>
      <p:bldP spid="17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FB24C-AD39-F5C0-767B-E85028AE6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C96A7-9286-BDDE-8D0F-83E722411C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955" y="751352"/>
            <a:ext cx="8825658" cy="1096498"/>
          </a:xfrm>
        </p:spPr>
        <p:txBody>
          <a:bodyPr/>
          <a:lstStyle/>
          <a:p>
            <a:r>
              <a:rPr lang="en-US" sz="4800" dirty="0"/>
              <a:t>4. Model Formulation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F3A5340-1989-8048-88D7-A3A901F91891}"/>
                  </a:ext>
                </a:extLst>
              </p:cNvPr>
              <p:cNvSpPr txBox="1"/>
              <p:nvPr/>
            </p:nvSpPr>
            <p:spPr>
              <a:xfrm>
                <a:off x="3831117" y="2911765"/>
                <a:ext cx="4529766" cy="617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student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is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assigned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to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tutor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F3A5340-1989-8048-88D7-A3A901F918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1117" y="2911765"/>
                <a:ext cx="4529766" cy="617861"/>
              </a:xfrm>
              <a:prstGeom prst="rect">
                <a:avLst/>
              </a:prstGeom>
              <a:blipFill>
                <a:blip r:embed="rId3"/>
                <a:stretch>
                  <a:fillRect l="-9777" t="-228571" b="-3306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CD9F1BD-DF76-4520-A07B-3E2C194B998A}"/>
              </a:ext>
            </a:extLst>
          </p:cNvPr>
          <p:cNvSpPr txBox="1"/>
          <p:nvPr/>
        </p:nvSpPr>
        <p:spPr>
          <a:xfrm>
            <a:off x="885973" y="2074268"/>
            <a:ext cx="76936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Binary Decision Variable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A78290-EF75-A5A1-DA19-0D57DA707247}"/>
              </a:ext>
            </a:extLst>
          </p:cNvPr>
          <p:cNvSpPr txBox="1"/>
          <p:nvPr/>
        </p:nvSpPr>
        <p:spPr>
          <a:xfrm>
            <a:off x="885973" y="4322068"/>
            <a:ext cx="76936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Constraint 1: 1 student </a:t>
            </a:r>
            <a:r>
              <a:rPr lang="en-US" sz="2400" dirty="0">
                <a:solidFill>
                  <a:schemeClr val="bg1"/>
                </a:solidFill>
                <a:sym typeface="Wingdings" pitchFamily="2" charset="2"/>
              </a:rPr>
              <a:t> 1 tutor</a:t>
            </a:r>
            <a:endParaRPr lang="en-US" sz="24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70B31C2-FD3E-BCE9-DB2C-B57228E4CEDD}"/>
                  </a:ext>
                </a:extLst>
              </p:cNvPr>
              <p:cNvSpPr txBox="1"/>
              <p:nvPr/>
            </p:nvSpPr>
            <p:spPr>
              <a:xfrm>
                <a:off x="5108229" y="4937836"/>
                <a:ext cx="1975541" cy="672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= 1        </m:t>
                          </m:r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 </m:t>
                          </m:r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nary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70B31C2-FD3E-BCE9-DB2C-B57228E4CE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8229" y="4937836"/>
                <a:ext cx="1975541" cy="672172"/>
              </a:xfrm>
              <a:prstGeom prst="rect">
                <a:avLst/>
              </a:prstGeom>
              <a:blipFill>
                <a:blip r:embed="rId4"/>
                <a:stretch>
                  <a:fillRect l="-42308" t="-144444" r="-1282" b="-20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8965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4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0A851-8355-79E3-05A9-D7800747F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15FA7-36DB-F651-4311-CB861DA625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955" y="751352"/>
            <a:ext cx="8825658" cy="1096498"/>
          </a:xfrm>
        </p:spPr>
        <p:txBody>
          <a:bodyPr/>
          <a:lstStyle/>
          <a:p>
            <a:r>
              <a:rPr lang="en-US" sz="4800" dirty="0"/>
              <a:t>4. Model Formulation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600EBD-CE7F-EC5B-A001-88CECD265B79}"/>
              </a:ext>
            </a:extLst>
          </p:cNvPr>
          <p:cNvSpPr txBox="1"/>
          <p:nvPr/>
        </p:nvSpPr>
        <p:spPr>
          <a:xfrm>
            <a:off x="773955" y="4386424"/>
            <a:ext cx="76936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Constraint 3: Tutor capacity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EE9825-1116-42FE-FCDD-B9ADA425DEF6}"/>
              </a:ext>
            </a:extLst>
          </p:cNvPr>
          <p:cNvSpPr txBox="1"/>
          <p:nvPr/>
        </p:nvSpPr>
        <p:spPr>
          <a:xfrm>
            <a:off x="773955" y="2174146"/>
            <a:ext cx="76936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Constraint 2: Skill level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FD3EC85-E5D4-4D04-AD65-93A67F42620E}"/>
                  </a:ext>
                </a:extLst>
              </p:cNvPr>
              <p:cNvSpPr txBox="1"/>
              <p:nvPr/>
            </p:nvSpPr>
            <p:spPr>
              <a:xfrm>
                <a:off x="2042838" y="2721272"/>
                <a:ext cx="7857472" cy="617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student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requires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extensive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skill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and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tutor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has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extensive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skill</m:t>
                              </m:r>
                            </m:e>
                            <m:e>
                              <m: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FD3EC85-E5D4-4D04-AD65-93A67F426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2838" y="2721272"/>
                <a:ext cx="7857472" cy="617861"/>
              </a:xfrm>
              <a:prstGeom prst="rect">
                <a:avLst/>
              </a:prstGeom>
              <a:blipFill>
                <a:blip r:embed="rId2"/>
                <a:stretch>
                  <a:fillRect l="-5968" t="-224000" r="-161" b="-32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E09D691-382D-5898-F641-EFCB5A0F5023}"/>
                  </a:ext>
                </a:extLst>
              </p:cNvPr>
              <p:cNvSpPr txBox="1"/>
              <p:nvPr/>
            </p:nvSpPr>
            <p:spPr>
              <a:xfrm>
                <a:off x="4983803" y="3373580"/>
                <a:ext cx="1975541" cy="672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= 1        </m:t>
                          </m:r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 </m:t>
                          </m:r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nary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E09D691-382D-5898-F641-EFCB5A0F5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3803" y="3373580"/>
                <a:ext cx="1975541" cy="672172"/>
              </a:xfrm>
              <a:prstGeom prst="rect">
                <a:avLst/>
              </a:prstGeom>
              <a:blipFill>
                <a:blip r:embed="rId3"/>
                <a:stretch>
                  <a:fillRect l="-42038" t="-144444" r="-637" b="-19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ECE8F93-57B1-3FB9-5BEB-F8DE05324D43}"/>
                  </a:ext>
                </a:extLst>
              </p:cNvPr>
              <p:cNvSpPr txBox="1"/>
              <p:nvPr/>
            </p:nvSpPr>
            <p:spPr>
              <a:xfrm>
                <a:off x="4037060" y="5089746"/>
                <a:ext cx="4117880" cy="672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remainingCapacity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ECE8F93-57B1-3FB9-5BEB-F8DE05324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7060" y="5089746"/>
                <a:ext cx="4117880" cy="672172"/>
              </a:xfrm>
              <a:prstGeom prst="rect">
                <a:avLst/>
              </a:prstGeom>
              <a:blipFill>
                <a:blip r:embed="rId4"/>
                <a:stretch>
                  <a:fillRect l="-7055" t="-144444" b="-20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1004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1" grpId="0"/>
      <p:bldP spid="12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05790-11E9-CE51-DB79-20BCF86B4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375E1-8E14-96F2-9023-04BE40B719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955" y="751352"/>
            <a:ext cx="8825658" cy="1096498"/>
          </a:xfrm>
        </p:spPr>
        <p:txBody>
          <a:bodyPr/>
          <a:lstStyle/>
          <a:p>
            <a:r>
              <a:rPr lang="en-US" sz="4800" dirty="0"/>
              <a:t>4. Model Formulation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5556C7-B486-B013-4145-7DF94A2F845D}"/>
              </a:ext>
            </a:extLst>
          </p:cNvPr>
          <p:cNvSpPr txBox="1"/>
          <p:nvPr/>
        </p:nvSpPr>
        <p:spPr>
          <a:xfrm>
            <a:off x="773955" y="4515461"/>
            <a:ext cx="76936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Workload Spread Variable (b)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D47278-034C-A5B2-4BF9-2CC8B077E00A}"/>
                  </a:ext>
                </a:extLst>
              </p:cNvPr>
              <p:cNvSpPr txBox="1"/>
              <p:nvPr/>
            </p:nvSpPr>
            <p:spPr>
              <a:xfrm>
                <a:off x="3467101" y="5359777"/>
                <a:ext cx="4496558" cy="7468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after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existingCount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+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D47278-034C-A5B2-4BF9-2CC8B077E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7101" y="5359777"/>
                <a:ext cx="4496558" cy="746871"/>
              </a:xfrm>
              <a:prstGeom prst="rect">
                <a:avLst/>
              </a:prstGeom>
              <a:blipFill>
                <a:blip r:embed="rId2"/>
                <a:stretch>
                  <a:fillRect t="-145000" b="-20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loud Callout 7">
            <a:extLst>
              <a:ext uri="{FF2B5EF4-FFF2-40B4-BE49-F238E27FC236}">
                <a16:creationId xmlns:a16="http://schemas.microsoft.com/office/drawing/2014/main" id="{1FB5727C-5DC7-271C-AA79-26802802B565}"/>
              </a:ext>
            </a:extLst>
          </p:cNvPr>
          <p:cNvSpPr/>
          <p:nvPr/>
        </p:nvSpPr>
        <p:spPr>
          <a:xfrm>
            <a:off x="7500383" y="4054360"/>
            <a:ext cx="2582401" cy="1383865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Standard deviation to be minimized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CF2138-6D18-0CB4-AFA9-4F3B4693FC38}"/>
              </a:ext>
            </a:extLst>
          </p:cNvPr>
          <p:cNvSpPr txBox="1"/>
          <p:nvPr/>
        </p:nvSpPr>
        <p:spPr>
          <a:xfrm>
            <a:off x="773955" y="2111706"/>
            <a:ext cx="76936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Tutor Assignment Variable (a)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130B861-C369-DA5E-5A3B-1E82DC8DE18D}"/>
                  </a:ext>
                </a:extLst>
              </p:cNvPr>
              <p:cNvSpPr txBox="1"/>
              <p:nvPr/>
            </p:nvSpPr>
            <p:spPr>
              <a:xfrm>
                <a:off x="3236435" y="2907364"/>
                <a:ext cx="5203348" cy="617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tutor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is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assigned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at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least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1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student</m:t>
                              </m:r>
                            </m:e>
                            <m:e>
                              <m: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130B861-C369-DA5E-5A3B-1E82DC8DE1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435" y="2907364"/>
                <a:ext cx="5203348" cy="617861"/>
              </a:xfrm>
              <a:prstGeom prst="rect">
                <a:avLst/>
              </a:prstGeom>
              <a:blipFill>
                <a:blip r:embed="rId3"/>
                <a:stretch>
                  <a:fillRect l="-9976" t="-224000" b="-3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loud Callout 10">
            <a:extLst>
              <a:ext uri="{FF2B5EF4-FFF2-40B4-BE49-F238E27FC236}">
                <a16:creationId xmlns:a16="http://schemas.microsoft.com/office/drawing/2014/main" id="{A89005FB-C668-5698-26B4-B342B78C89E2}"/>
              </a:ext>
            </a:extLst>
          </p:cNvPr>
          <p:cNvSpPr/>
          <p:nvPr/>
        </p:nvSpPr>
        <p:spPr>
          <a:xfrm>
            <a:off x="8113999" y="1490129"/>
            <a:ext cx="2078513" cy="1383865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Sum to be minimized</a:t>
            </a:r>
          </a:p>
        </p:txBody>
      </p:sp>
    </p:spTree>
    <p:extLst>
      <p:ext uri="{BB962C8B-B14F-4D97-AF65-F5344CB8AC3E}">
        <p14:creationId xmlns:p14="http://schemas.microsoft.com/office/powerpoint/2010/main" val="1061364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5" grpId="0"/>
      <p:bldP spid="10" grpId="0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B8950-D8AA-1081-F19D-B25A53B25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37B6D-2872-105C-74F8-0FE47F834D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955" y="751352"/>
            <a:ext cx="8825658" cy="1096498"/>
          </a:xfrm>
        </p:spPr>
        <p:txBody>
          <a:bodyPr/>
          <a:lstStyle/>
          <a:p>
            <a:r>
              <a:rPr lang="en-US" sz="4800" dirty="0"/>
              <a:t>4. Model Formulation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9A39C5-4812-118C-8F94-CB9449FF8795}"/>
              </a:ext>
            </a:extLst>
          </p:cNvPr>
          <p:cNvSpPr txBox="1"/>
          <p:nvPr/>
        </p:nvSpPr>
        <p:spPr>
          <a:xfrm>
            <a:off x="773955" y="2174146"/>
            <a:ext cx="76936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Preference Score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F3C0664-D719-3DE5-FD32-1C9E60E5576A}"/>
                  </a:ext>
                </a:extLst>
              </p:cNvPr>
              <p:cNvSpPr txBox="1"/>
              <p:nvPr/>
            </p:nvSpPr>
            <p:spPr>
              <a:xfrm>
                <a:off x="2378439" y="3654040"/>
                <a:ext cx="6655633" cy="9825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PrefScore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2,  1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1" baseline="3000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st</m:t>
                              </m:r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choice</m:t>
                              </m:r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centre</m:t>
                              </m:r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1,   2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1" baseline="3000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nd</m:t>
                              </m:r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choice</m:t>
                              </m:r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centre</m:t>
                              </m:r>
                            </m:e>
                            <m:e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0,    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F3C0664-D719-3DE5-FD32-1C9E60E557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8439" y="3654040"/>
                <a:ext cx="6655633" cy="982577"/>
              </a:xfrm>
              <a:prstGeom prst="rect">
                <a:avLst/>
              </a:prstGeom>
              <a:blipFill>
                <a:blip r:embed="rId2"/>
                <a:stretch>
                  <a:fillRect t="-231646" b="-3265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loud Callout 4">
            <a:extLst>
              <a:ext uri="{FF2B5EF4-FFF2-40B4-BE49-F238E27FC236}">
                <a16:creationId xmlns:a16="http://schemas.microsoft.com/office/drawing/2014/main" id="{09C4660E-D6AA-EEA0-7040-1642A66AB84B}"/>
              </a:ext>
            </a:extLst>
          </p:cNvPr>
          <p:cNvSpPr/>
          <p:nvPr/>
        </p:nvSpPr>
        <p:spPr>
          <a:xfrm>
            <a:off x="8077823" y="2174146"/>
            <a:ext cx="2485157" cy="1383865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Sum to be maximized</a:t>
            </a:r>
          </a:p>
        </p:txBody>
      </p:sp>
    </p:spTree>
    <p:extLst>
      <p:ext uri="{BB962C8B-B14F-4D97-AF65-F5344CB8AC3E}">
        <p14:creationId xmlns:p14="http://schemas.microsoft.com/office/powerpoint/2010/main" val="205199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DD5DB-0A62-711E-50BC-D39707C37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E2A98-B042-292E-D494-553EDF889E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955" y="751352"/>
            <a:ext cx="8825658" cy="1096498"/>
          </a:xfrm>
        </p:spPr>
        <p:txBody>
          <a:bodyPr/>
          <a:lstStyle/>
          <a:p>
            <a:r>
              <a:rPr lang="en-US" sz="4800" dirty="0"/>
              <a:t>5. Objective Function (a)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5E69D70-9E2F-3E6E-0863-AA2B3670C3AA}"/>
                  </a:ext>
                </a:extLst>
              </p:cNvPr>
              <p:cNvSpPr txBox="1"/>
              <p:nvPr/>
            </p:nvSpPr>
            <p:spPr>
              <a:xfrm>
                <a:off x="2543331" y="2504516"/>
                <a:ext cx="7105337" cy="9244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 </m:t>
                      </m:r>
                      <m:r>
                        <a:rPr lang="en-US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𝜷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PrefScore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5E69D70-9E2F-3E6E-0863-AA2B3670C3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3331" y="2504516"/>
                <a:ext cx="7105337" cy="924484"/>
              </a:xfrm>
              <a:prstGeom prst="rect">
                <a:avLst/>
              </a:prstGeom>
              <a:blipFill>
                <a:blip r:embed="rId2"/>
                <a:stretch>
                  <a:fillRect t="-143243" b="-1932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BB8D5F-4BB1-7BA8-FF68-604C2FB6CF18}"/>
                  </a:ext>
                </a:extLst>
              </p:cNvPr>
              <p:cNvSpPr txBox="1"/>
              <p:nvPr/>
            </p:nvSpPr>
            <p:spPr>
              <a:xfrm>
                <a:off x="2543331" y="4085666"/>
                <a:ext cx="7693612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en-US" dirty="0">
                    <a:solidFill>
                      <a:schemeClr val="bg1"/>
                    </a:solidFill>
                  </a:rPr>
                  <a:t>Minimizing sum of tutors assigned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>
                    <a:solidFill>
                      <a:schemeClr val="bg1"/>
                    </a:solidFill>
                  </a:rPr>
                  <a:t>Maximizing preference score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chemeClr val="bg1"/>
                    </a:solidFill>
                  </a:rPr>
                  <a:t>= 70,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chemeClr val="bg1"/>
                    </a:solidFill>
                  </a:rPr>
                  <a:t>= 1 </a:t>
                </a:r>
                <a:r>
                  <a:rPr lang="en-US" dirty="0">
                    <a:solidFill>
                      <a:schemeClr val="bg1"/>
                    </a:solidFill>
                    <a:sym typeface="Wingdings" pitchFamily="2" charset="2"/>
                  </a:rPr>
                  <a:t> </a:t>
                </a:r>
                <a:r>
                  <a:rPr lang="en-US" dirty="0">
                    <a:solidFill>
                      <a:schemeClr val="bg1"/>
                    </a:solidFill>
                  </a:rPr>
                  <a:t>minimizing sum of tutors is 70 times more important than tuition </a:t>
                </a:r>
                <a:r>
                  <a:rPr lang="en-US" dirty="0" err="1">
                    <a:solidFill>
                      <a:schemeClr val="bg1"/>
                    </a:solidFill>
                  </a:rPr>
                  <a:t>centre</a:t>
                </a:r>
                <a:r>
                  <a:rPr lang="en-US" dirty="0">
                    <a:solidFill>
                      <a:schemeClr val="bg1"/>
                    </a:solidFill>
                  </a:rPr>
                  <a:t> preference</a:t>
                </a:r>
              </a:p>
              <a:p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BB8D5F-4BB1-7BA8-FF68-604C2FB6C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3331" y="4085666"/>
                <a:ext cx="7693612" cy="1477328"/>
              </a:xfrm>
              <a:prstGeom prst="rect">
                <a:avLst/>
              </a:prstGeom>
              <a:blipFill>
                <a:blip r:embed="rId3"/>
                <a:stretch>
                  <a:fillRect l="-660" t="-1695" r="-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8357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17BE4-78FF-6CDF-9FEE-720093DA1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58CA7-25F4-88D1-C6D5-26479E7774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955" y="751352"/>
            <a:ext cx="8825658" cy="1096498"/>
          </a:xfrm>
        </p:spPr>
        <p:txBody>
          <a:bodyPr/>
          <a:lstStyle/>
          <a:p>
            <a:r>
              <a:rPr lang="en-US" sz="4800" dirty="0"/>
              <a:t>6. Objective Function (b)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D35B54-CEC8-F9F4-C293-FA837A83B89C}"/>
                  </a:ext>
                </a:extLst>
              </p:cNvPr>
              <p:cNvSpPr txBox="1"/>
              <p:nvPr/>
            </p:nvSpPr>
            <p:spPr>
              <a:xfrm>
                <a:off x="2249194" y="2504516"/>
                <a:ext cx="7693612" cy="9244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𝑀𝑖𝑛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𝜸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after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 </m:t>
                      </m:r>
                      <m:r>
                        <a:rPr lang="en-US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𝜷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PrefScore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D35B54-CEC8-F9F4-C293-FA837A83B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9194" y="2504516"/>
                <a:ext cx="7693612" cy="924484"/>
              </a:xfrm>
              <a:prstGeom prst="rect">
                <a:avLst/>
              </a:prstGeom>
              <a:blipFill>
                <a:blip r:embed="rId2"/>
                <a:stretch>
                  <a:fillRect t="-143243" b="-1932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622A90F-FFC0-FC51-CDB6-E138313508CE}"/>
                  </a:ext>
                </a:extLst>
              </p:cNvPr>
              <p:cNvSpPr txBox="1"/>
              <p:nvPr/>
            </p:nvSpPr>
            <p:spPr>
              <a:xfrm>
                <a:off x="2156838" y="4085666"/>
                <a:ext cx="7878324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en-US" dirty="0">
                    <a:solidFill>
                      <a:schemeClr val="bg1"/>
                    </a:solidFill>
                  </a:rPr>
                  <a:t>Minimizing spread </a:t>
                </a:r>
                <a:r>
                  <a:rPr lang="en-US" dirty="0">
                    <a:solidFill>
                      <a:schemeClr val="bg1"/>
                    </a:solidFill>
                    <a:sym typeface="Wingdings" pitchFamily="2" charset="2"/>
                  </a:rPr>
                  <a:t> minimizing deviation from the mean</a:t>
                </a:r>
                <a:endParaRPr lang="en-US" dirty="0">
                  <a:solidFill>
                    <a:schemeClr val="bg1"/>
                  </a:solidFill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dirty="0">
                    <a:solidFill>
                      <a:schemeClr val="bg1"/>
                    </a:solidFill>
                  </a:rPr>
                  <a:t>Maximizing preference score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𝜸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chemeClr val="bg1"/>
                    </a:solidFill>
                  </a:rPr>
                  <a:t>= 2,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chemeClr val="bg1"/>
                    </a:solidFill>
                  </a:rPr>
                  <a:t>= 1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dirty="0">
                    <a:solidFill>
                      <a:schemeClr val="bg1"/>
                    </a:solidFill>
                    <a:sym typeface="Wingdings" pitchFamily="2" charset="2"/>
                  </a:rPr>
                  <a:t> </a:t>
                </a:r>
                <a:r>
                  <a:rPr lang="en-US" dirty="0">
                    <a:solidFill>
                      <a:schemeClr val="bg1"/>
                    </a:solidFill>
                  </a:rPr>
                  <a:t>minimizing spread is much more important than tuition </a:t>
                </a:r>
                <a:r>
                  <a:rPr lang="en-US" dirty="0" err="1">
                    <a:solidFill>
                      <a:schemeClr val="bg1"/>
                    </a:solidFill>
                  </a:rPr>
                  <a:t>centre</a:t>
                </a:r>
                <a:r>
                  <a:rPr lang="en-US" dirty="0">
                    <a:solidFill>
                      <a:schemeClr val="bg1"/>
                    </a:solidFill>
                  </a:rPr>
                  <a:t> preference since quadratic terms grow much faster</a:t>
                </a:r>
              </a:p>
              <a:p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622A90F-FFC0-FC51-CDB6-E13831350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6838" y="4085666"/>
                <a:ext cx="7878324" cy="1477328"/>
              </a:xfrm>
              <a:prstGeom prst="rect">
                <a:avLst/>
              </a:prstGeom>
              <a:blipFill>
                <a:blip r:embed="rId3"/>
                <a:stretch>
                  <a:fillRect l="-482" t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4785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FE59E-D8F7-5F36-7B32-88E7663F9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C5505-A581-3259-8218-3B2812FCEE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955" y="751352"/>
            <a:ext cx="8825658" cy="1096498"/>
          </a:xfrm>
        </p:spPr>
        <p:txBody>
          <a:bodyPr/>
          <a:lstStyle/>
          <a:p>
            <a:r>
              <a:rPr lang="en-US" sz="4800" dirty="0"/>
              <a:t>7. Results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24F5DB7-5387-5AA1-63D7-47CD6860F7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8346793"/>
              </p:ext>
            </p:extLst>
          </p:nvPr>
        </p:nvGraphicFramePr>
        <p:xfrm>
          <a:off x="2128602" y="2713358"/>
          <a:ext cx="8450847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6949">
                  <a:extLst>
                    <a:ext uri="{9D8B030D-6E8A-4147-A177-3AD203B41FA5}">
                      <a16:colId xmlns:a16="http://schemas.microsoft.com/office/drawing/2014/main" val="1711156831"/>
                    </a:ext>
                  </a:extLst>
                </a:gridCol>
                <a:gridCol w="2816949">
                  <a:extLst>
                    <a:ext uri="{9D8B030D-6E8A-4147-A177-3AD203B41FA5}">
                      <a16:colId xmlns:a16="http://schemas.microsoft.com/office/drawing/2014/main" val="2761709894"/>
                    </a:ext>
                  </a:extLst>
                </a:gridCol>
                <a:gridCol w="2816949">
                  <a:extLst>
                    <a:ext uri="{9D8B030D-6E8A-4147-A177-3AD203B41FA5}">
                      <a16:colId xmlns:a16="http://schemas.microsoft.com/office/drawing/2014/main" val="40226216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Key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(a) Minimize tutors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(b) Balance workload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703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No. of tutors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736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Range of workload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 – 8 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 – 5 students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5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Workload std deviation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3.3 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0.75 students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8602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Preference Satisfaction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414443"/>
                  </a:ext>
                </a:extLst>
              </a:tr>
            </a:tbl>
          </a:graphicData>
        </a:graphic>
      </p:graphicFrame>
      <p:sp>
        <p:nvSpPr>
          <p:cNvPr id="4" name="Curved Up Arrow 3">
            <a:extLst>
              <a:ext uri="{FF2B5EF4-FFF2-40B4-BE49-F238E27FC236}">
                <a16:creationId xmlns:a16="http://schemas.microsoft.com/office/drawing/2014/main" id="{4D5AB778-7BF4-7BB6-C83C-7F28F7EAF8AB}"/>
              </a:ext>
            </a:extLst>
          </p:cNvPr>
          <p:cNvSpPr/>
          <p:nvPr/>
        </p:nvSpPr>
        <p:spPr>
          <a:xfrm rot="4976402">
            <a:off x="1318425" y="4902160"/>
            <a:ext cx="1251780" cy="513567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004610-CE87-10C2-60DB-870B042DCEFA}"/>
                  </a:ext>
                </a:extLst>
              </p:cNvPr>
              <p:cNvSpPr txBox="1"/>
              <p:nvPr/>
            </p:nvSpPr>
            <p:spPr>
              <a:xfrm>
                <a:off x="2461364" y="5481091"/>
                <a:ext cx="4666342" cy="4424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Number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assignments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to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1</m:t>
                        </m:r>
                        <m:r>
                          <m:rPr>
                            <m:sty m:val="p"/>
                          </m:rPr>
                          <a:rPr lang="en-US" b="0" i="1" baseline="300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st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/2</m:t>
                        </m:r>
                        <m:r>
                          <m:rPr>
                            <m:sty m:val="p"/>
                          </m:rPr>
                          <a:rPr lang="en-US" b="0" i="1" baseline="300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nd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choice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locations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Total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number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tutor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assignments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x 100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004610-CE87-10C2-60DB-870B042DCE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1364" y="5481091"/>
                <a:ext cx="4666342" cy="442429"/>
              </a:xfrm>
              <a:prstGeom prst="rect">
                <a:avLst/>
              </a:prstGeom>
              <a:blipFill>
                <a:blip r:embed="rId2"/>
                <a:stretch>
                  <a:fillRect l="-1355" t="-2778" r="-1897" b="-19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3200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E8ADC-81FB-3059-6378-2012820B9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D149B-85AF-4DDB-E559-F651DE1BB3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955" y="751352"/>
            <a:ext cx="8825658" cy="1096498"/>
          </a:xfrm>
        </p:spPr>
        <p:txBody>
          <a:bodyPr/>
          <a:lstStyle/>
          <a:p>
            <a:r>
              <a:rPr lang="en-US" sz="4800" dirty="0"/>
              <a:t>7. Results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8A644F2-097B-FE33-CC21-2DF154444B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530416"/>
              </p:ext>
            </p:extLst>
          </p:nvPr>
        </p:nvGraphicFramePr>
        <p:xfrm>
          <a:off x="2128602" y="2713358"/>
          <a:ext cx="8031399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133">
                  <a:extLst>
                    <a:ext uri="{9D8B030D-6E8A-4147-A177-3AD203B41FA5}">
                      <a16:colId xmlns:a16="http://schemas.microsoft.com/office/drawing/2014/main" val="1711156831"/>
                    </a:ext>
                  </a:extLst>
                </a:gridCol>
                <a:gridCol w="2677133">
                  <a:extLst>
                    <a:ext uri="{9D8B030D-6E8A-4147-A177-3AD203B41FA5}">
                      <a16:colId xmlns:a16="http://schemas.microsoft.com/office/drawing/2014/main" val="2761709894"/>
                    </a:ext>
                  </a:extLst>
                </a:gridCol>
                <a:gridCol w="2677133">
                  <a:extLst>
                    <a:ext uri="{9D8B030D-6E8A-4147-A177-3AD203B41FA5}">
                      <a16:colId xmlns:a16="http://schemas.microsoft.com/office/drawing/2014/main" val="40226216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Key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(a): Minimize tutors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(b) Balance workload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703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No. of tutors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736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Range of workload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 – 8 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 – 5 students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5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Workload spread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3.3 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0.75 students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8602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Preference Satisfaction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BFCF3E"/>
                          </a:solidFill>
                        </a:rP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4144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19833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A29F7-1DE5-9842-FE31-468443DB1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597A5-CE23-1220-0E7F-D8AF7BE947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99943" y="2880751"/>
            <a:ext cx="5592113" cy="1096498"/>
          </a:xfrm>
        </p:spPr>
        <p:txBody>
          <a:bodyPr/>
          <a:lstStyle/>
          <a:p>
            <a:r>
              <a:rPr lang="en-US" sz="4800" dirty="0"/>
              <a:t>8. (a) + (b) = (c) ?</a:t>
            </a:r>
          </a:p>
        </p:txBody>
      </p:sp>
    </p:spTree>
    <p:extLst>
      <p:ext uri="{BB962C8B-B14F-4D97-AF65-F5344CB8AC3E}">
        <p14:creationId xmlns:p14="http://schemas.microsoft.com/office/powerpoint/2010/main" val="6391794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5E4BF-AD72-6CCD-6CA2-64EE9A75C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36B59-548B-1025-C722-A15AE89E5B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955" y="751352"/>
            <a:ext cx="8825658" cy="1096498"/>
          </a:xfrm>
        </p:spPr>
        <p:txBody>
          <a:bodyPr/>
          <a:lstStyle/>
          <a:p>
            <a:r>
              <a:rPr lang="en-US" sz="4800" dirty="0"/>
              <a:t>8. Objective Function (c)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79FEC05-5252-2621-6E7C-8E9F0672321B}"/>
                  </a:ext>
                </a:extLst>
              </p:cNvPr>
              <p:cNvSpPr txBox="1"/>
              <p:nvPr/>
            </p:nvSpPr>
            <p:spPr>
              <a:xfrm>
                <a:off x="1446362" y="2504516"/>
                <a:ext cx="9299275" cy="9244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+</m:t>
                      </m:r>
                      <m:r>
                        <a:rPr lang="en-US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𝜸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after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 </m:t>
                      </m:r>
                      <m:r>
                        <a:rPr lang="en-US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𝜷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PrefScore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79FEC05-5252-2621-6E7C-8E9F067232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6362" y="2504516"/>
                <a:ext cx="9299275" cy="924484"/>
              </a:xfrm>
              <a:prstGeom prst="rect">
                <a:avLst/>
              </a:prstGeom>
              <a:blipFill>
                <a:blip r:embed="rId2"/>
                <a:stretch>
                  <a:fillRect t="-143243" b="-1932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56BD04-57D5-A777-D6BD-6A4131C5ED9D}"/>
                  </a:ext>
                </a:extLst>
              </p:cNvPr>
              <p:cNvSpPr txBox="1"/>
              <p:nvPr/>
            </p:nvSpPr>
            <p:spPr>
              <a:xfrm>
                <a:off x="2543331" y="4085666"/>
                <a:ext cx="769361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en-US" dirty="0">
                    <a:solidFill>
                      <a:schemeClr val="bg1"/>
                    </a:solidFill>
                  </a:rPr>
                  <a:t>Minimizing sum of tutors assigned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>
                    <a:solidFill>
                      <a:schemeClr val="bg1"/>
                    </a:solidFill>
                  </a:rPr>
                  <a:t>Minimizing spread </a:t>
                </a:r>
                <a:r>
                  <a:rPr lang="en-US" dirty="0">
                    <a:solidFill>
                      <a:schemeClr val="bg1"/>
                    </a:solidFill>
                    <a:sym typeface="Wingdings" pitchFamily="2" charset="2"/>
                  </a:rPr>
                  <a:t> minimizing deviation from the mean</a:t>
                </a:r>
                <a:endParaRPr lang="en-US" dirty="0">
                  <a:solidFill>
                    <a:schemeClr val="bg1"/>
                  </a:solidFill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dirty="0">
                    <a:solidFill>
                      <a:schemeClr val="bg1"/>
                    </a:solidFill>
                  </a:rPr>
                  <a:t>Maximizing preference score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chemeClr val="bg1"/>
                    </a:solidFill>
                  </a:rPr>
                  <a:t>= 50,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𝜸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b="1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  <m:r>
                      <a:rPr lang="en-US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chemeClr val="bg1"/>
                    </a:solidFill>
                  </a:rPr>
                  <a:t>= 1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56BD04-57D5-A777-D6BD-6A4131C5E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3331" y="4085666"/>
                <a:ext cx="7693612" cy="1200329"/>
              </a:xfrm>
              <a:prstGeom prst="rect">
                <a:avLst/>
              </a:prstGeom>
              <a:blipFill>
                <a:blip r:embed="rId3"/>
                <a:stretch>
                  <a:fillRect l="-660" t="-2083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893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92DAB-D09E-43C8-84E9-03C3A859E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7D7AB-1CCA-F924-5C6E-D635260B9A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955" y="751352"/>
            <a:ext cx="8825658" cy="1096498"/>
          </a:xfrm>
        </p:spPr>
        <p:txBody>
          <a:bodyPr/>
          <a:lstStyle/>
          <a:p>
            <a:r>
              <a:rPr lang="en-US" sz="4800" dirty="0"/>
              <a:t>9. Conclusion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BC18430-C114-E77A-CC01-BEC0A5A4A6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8536582"/>
              </p:ext>
            </p:extLst>
          </p:nvPr>
        </p:nvGraphicFramePr>
        <p:xfrm>
          <a:off x="1742794" y="2675780"/>
          <a:ext cx="8706412" cy="266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603">
                  <a:extLst>
                    <a:ext uri="{9D8B030D-6E8A-4147-A177-3AD203B41FA5}">
                      <a16:colId xmlns:a16="http://schemas.microsoft.com/office/drawing/2014/main" val="1711156831"/>
                    </a:ext>
                  </a:extLst>
                </a:gridCol>
                <a:gridCol w="2176603">
                  <a:extLst>
                    <a:ext uri="{9D8B030D-6E8A-4147-A177-3AD203B41FA5}">
                      <a16:colId xmlns:a16="http://schemas.microsoft.com/office/drawing/2014/main" val="2761709894"/>
                    </a:ext>
                  </a:extLst>
                </a:gridCol>
                <a:gridCol w="2176603">
                  <a:extLst>
                    <a:ext uri="{9D8B030D-6E8A-4147-A177-3AD203B41FA5}">
                      <a16:colId xmlns:a16="http://schemas.microsoft.com/office/drawing/2014/main" val="4022621651"/>
                    </a:ext>
                  </a:extLst>
                </a:gridCol>
                <a:gridCol w="2176603">
                  <a:extLst>
                    <a:ext uri="{9D8B030D-6E8A-4147-A177-3AD203B41FA5}">
                      <a16:colId xmlns:a16="http://schemas.microsoft.com/office/drawing/2014/main" val="1661302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Key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(a): Minimize tutors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(b) Balance workload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(c) Combined objectives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703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No. of tutors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C000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736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Range of workload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 – 8 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 – 5 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 – 5 students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5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Workload spread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3.3 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0.75 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C000"/>
                          </a:solidFill>
                        </a:rPr>
                        <a:t>2.14 students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8602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Preference Satisfaction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C000"/>
                          </a:solidFill>
                        </a:rP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100%</a:t>
                      </a:r>
                    </a:p>
                    <a:p>
                      <a:endParaRPr lang="en-US" b="1" dirty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4144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56720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73274-3CDB-B84D-1464-120E43D8E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4F97E-2588-D914-95B8-987ABEBB91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955" y="751352"/>
            <a:ext cx="8825658" cy="1096498"/>
          </a:xfrm>
        </p:spPr>
        <p:txBody>
          <a:bodyPr/>
          <a:lstStyle/>
          <a:p>
            <a:r>
              <a:rPr lang="en-US" sz="4800" dirty="0"/>
              <a:t>9. Conclusion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466315-C69B-6740-56C8-C483D6911B89}"/>
              </a:ext>
            </a:extLst>
          </p:cNvPr>
          <p:cNvSpPr txBox="1"/>
          <p:nvPr/>
        </p:nvSpPr>
        <p:spPr>
          <a:xfrm>
            <a:off x="1222439" y="2074775"/>
            <a:ext cx="974712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3 strategic scenarios were evaluated:</a:t>
            </a:r>
          </a:p>
          <a:p>
            <a:pPr marL="342900" indent="-342900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Scenario (a) </a:t>
            </a:r>
            <a:r>
              <a:rPr lang="en-US" sz="2000" dirty="0">
                <a:solidFill>
                  <a:schemeClr val="bg1"/>
                </a:solidFill>
              </a:rPr>
              <a:t>prioritized </a:t>
            </a:r>
            <a:r>
              <a:rPr lang="en-US" sz="2000" b="1" dirty="0">
                <a:solidFill>
                  <a:schemeClr val="bg1"/>
                </a:solidFill>
              </a:rPr>
              <a:t>operation efficiency </a:t>
            </a:r>
            <a:r>
              <a:rPr lang="en-US" sz="2000" dirty="0">
                <a:solidFill>
                  <a:schemeClr val="bg1"/>
                </a:solidFill>
              </a:rPr>
              <a:t>by minimizing the number of tutors used</a:t>
            </a:r>
          </a:p>
          <a:p>
            <a:pPr marL="342900" indent="-342900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Scenario (b) </a:t>
            </a:r>
            <a:r>
              <a:rPr lang="en-US" sz="2000" dirty="0">
                <a:solidFill>
                  <a:schemeClr val="bg1"/>
                </a:solidFill>
              </a:rPr>
              <a:t>prioritized </a:t>
            </a:r>
            <a:r>
              <a:rPr lang="en-US" sz="2000" b="1" dirty="0">
                <a:solidFill>
                  <a:schemeClr val="bg1"/>
                </a:solidFill>
              </a:rPr>
              <a:t>fairness</a:t>
            </a:r>
            <a:r>
              <a:rPr lang="en-US" sz="2000" dirty="0">
                <a:solidFill>
                  <a:schemeClr val="bg1"/>
                </a:solidFill>
              </a:rPr>
              <a:t> by minimizing workload spread among tutors</a:t>
            </a:r>
          </a:p>
          <a:p>
            <a:pPr marL="342900" indent="-342900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Scenario (c) </a:t>
            </a:r>
            <a:r>
              <a:rPr lang="en-US" sz="2000" dirty="0">
                <a:solidFill>
                  <a:schemeClr val="bg1"/>
                </a:solidFill>
              </a:rPr>
              <a:t>combined both objectives to produce a </a:t>
            </a:r>
            <a:r>
              <a:rPr lang="en-US" sz="2000" b="1" dirty="0">
                <a:solidFill>
                  <a:schemeClr val="bg1"/>
                </a:solidFill>
              </a:rPr>
              <a:t>balanced, compromised solution</a:t>
            </a:r>
          </a:p>
          <a:p>
            <a:pPr marL="342900" indent="-342900">
              <a:buFontTx/>
              <a:buChar char="-"/>
            </a:pP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Overall, the model provides a flexible, scalable decision support tool that can be adapted to evolving operational priorities while maintaining transparency and consistency in assignment decisions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1216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F756F-74D9-78F0-EABC-DBE470544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70350-9ECA-DAAA-89C5-EB8A595C3C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2880751"/>
            <a:ext cx="8825658" cy="1096498"/>
          </a:xfrm>
        </p:spPr>
        <p:txBody>
          <a:bodyPr/>
          <a:lstStyle/>
          <a:p>
            <a:pPr algn="ctr"/>
            <a:r>
              <a:rPr lang="en-US" sz="4800" dirty="0"/>
              <a:t>Thank you!</a:t>
            </a:r>
            <a:br>
              <a:rPr lang="en-US" sz="4800" dirty="0"/>
            </a:br>
            <a:r>
              <a:rPr lang="en-US" sz="2800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265666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540</TotalTime>
  <Words>652</Words>
  <Application>Microsoft Macintosh PowerPoint</Application>
  <PresentationFormat>Widescreen</PresentationFormat>
  <Paragraphs>146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Cambria Math</vt:lpstr>
      <vt:lpstr>Century Gothic</vt:lpstr>
      <vt:lpstr>Wingdings</vt:lpstr>
      <vt:lpstr>Wingdings 3</vt:lpstr>
      <vt:lpstr>Ion Boardroom</vt:lpstr>
      <vt:lpstr>Tutor Assignment Optimization Framework</vt:lpstr>
      <vt:lpstr>Contents</vt:lpstr>
      <vt:lpstr>1. Problem Statement</vt:lpstr>
      <vt:lpstr>2. Data Preprocessing</vt:lpstr>
      <vt:lpstr>2. Data Preprocessing</vt:lpstr>
      <vt:lpstr>3. Optimization Approach</vt:lpstr>
      <vt:lpstr>3. Optimization Approach</vt:lpstr>
      <vt:lpstr>4. Model Formulation</vt:lpstr>
      <vt:lpstr>4. Model Formulation</vt:lpstr>
      <vt:lpstr>4. Model Formulation</vt:lpstr>
      <vt:lpstr>4. Model Formulation</vt:lpstr>
      <vt:lpstr>5. Objective Function (a)</vt:lpstr>
      <vt:lpstr>6. Objective Function (b)</vt:lpstr>
      <vt:lpstr>7. Results</vt:lpstr>
      <vt:lpstr>7. Results</vt:lpstr>
      <vt:lpstr>8. (a) + (b) = (c) ?</vt:lpstr>
      <vt:lpstr>8. Objective Function (c)</vt:lpstr>
      <vt:lpstr>9. Conclusion</vt:lpstr>
      <vt:lpstr>9. Conclusion</vt:lpstr>
      <vt:lpstr>Thank you! 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VIJAYAKUMAR Sabarina</dc:creator>
  <cp:lastModifiedBy>VIJAYAKUMAR Sabarina</cp:lastModifiedBy>
  <cp:revision>5</cp:revision>
  <dcterms:created xsi:type="dcterms:W3CDTF">2026-03-02T06:39:01Z</dcterms:created>
  <dcterms:modified xsi:type="dcterms:W3CDTF">2026-04-01T16:36:16Z</dcterms:modified>
</cp:coreProperties>
</file>